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EvoAgentX Studio is a general platform for agent workflows. This deck walks through its seven features, always on the same example: a pipeline that reads customer feedback, classifies it and writes a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features in one place. The rest of the deck takes them in this order, each on the same example pipeline, so the audience follows one thing from start to finish.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steps. Classify reads memory: each customer’s earlier feedback. Lookup calls a tool to fetch the customer’s plan. The three middle steps run side by side and join at Summarize.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canvas is the pipeline. Nodes appear, one is dragged into place, and the links draw in. Each node holds its own prompt, model and tools.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plain Python. Its 48 records leave the file in three batches of 16 and enter the Feedback node, which passes them down the pipeline.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step starts a batch once the steps before it have. The three middle branches run in parallel. Tokens and cost count up live, and Stop ends every model call at once. Numbers are illustrative.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the Today line moves, each customer’s records become readable only once their date has passed. Classify never sees later feedback, so a backtest never leaks the future.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requests in one conversation. The first builds the pipeline on an empty canvas. The second adds the Lookup tool step and wires it between Extract and Summarize.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is a Python function you paste in. Each report is checked, and the score it produces is the target Evolve tries to raise. The 6 of 8 is illustrative.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loop each round closes: feedback runs through the pipeline, gets scored, and Evolve writes a better Classify prompt. Then the result: dev and held-out scores rising round by round. Numbers are illustrative. The clip starts with the slide and loops.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in one picture: feedback goes through the pipeline, your code scores it, Evolve writes better prompts, and the next round starts.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6.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812800" y="812800"/>
            <a:ext cx="10566400" cy="381000"/>
          </a:xfrm>
          <a:prstGeom prst="rect">
            <a:avLst/>
          </a:prstGeom>
          <a:noFill/>
        </p:spPr>
        <p:txBody>
          <a:bodyPr wrap="square" lIns="0" rIns="0" tIns="0" bIns="0" anchor="t">
            <a:spAutoFit/>
          </a:bodyPr>
          <a:lstStyle/>
          <a:p>
            <a:pPr algn="l">
              <a:lnSpc>
                <a:spcPct val="115000"/>
              </a:lnSpc>
            </a:pPr>
            <a:r>
              <a:rPr sz="1400" b="1">
                <a:solidFill>
                  <a:srgbClr val="9DB4FF"/>
                </a:solidFill>
                <a:latin typeface="Arial"/>
              </a:rPr>
              <a:t>EVOAGENTX STUDIO</a:t>
            </a:r>
          </a:p>
        </p:txBody>
      </p:sp>
      <p:sp>
        <p:nvSpPr>
          <p:cNvPr id="3" name="TextBox 2"/>
          <p:cNvSpPr txBox="1"/>
          <p:nvPr/>
        </p:nvSpPr>
        <p:spPr>
          <a:xfrm>
            <a:off x="812800" y="2286000"/>
            <a:ext cx="9525000" cy="2286000"/>
          </a:xfrm>
          <a:prstGeom prst="rect">
            <a:avLst/>
          </a:prstGeom>
          <a:noFill/>
        </p:spPr>
        <p:txBody>
          <a:bodyPr wrap="square" lIns="0" rIns="0" tIns="0" bIns="0" anchor="t">
            <a:spAutoFit/>
          </a:bodyPr>
          <a:lstStyle/>
          <a:p>
            <a:pPr algn="l">
              <a:lnSpc>
                <a:spcPct val="105000"/>
              </a:lnSpc>
            </a:pPr>
            <a:r>
              <a:rPr sz="4800" b="1">
                <a:solidFill>
                  <a:srgbClr val="F2F3F7"/>
                </a:solidFill>
                <a:latin typeface="Arial"/>
              </a:rPr>
              <a:t>Build, run, evaluate and improve agent workflows in one place</a:t>
            </a:r>
          </a:p>
        </p:txBody>
      </p:sp>
      <p:sp>
        <p:nvSpPr>
          <p:cNvPr id="4" name="TextBox 3"/>
          <p:cNvSpPr txBox="1"/>
          <p:nvPr/>
        </p:nvSpPr>
        <p:spPr>
          <a:xfrm>
            <a:off x="812800" y="4826000"/>
            <a:ext cx="9525000" cy="381000"/>
          </a:xfrm>
          <a:prstGeom prst="rect">
            <a:avLst/>
          </a:prstGeom>
          <a:noFill/>
        </p:spPr>
        <p:txBody>
          <a:bodyPr wrap="square" lIns="0" rIns="0" tIns="0" bIns="0" anchor="t">
            <a:spAutoFit/>
          </a:bodyPr>
          <a:lstStyle/>
          <a:p>
            <a:pPr algn="l">
              <a:lnSpc>
                <a:spcPct val="115000"/>
              </a:lnSpc>
            </a:pPr>
            <a:r>
              <a:rPr sz="1800" b="0">
                <a:solidFill>
                  <a:srgbClr val="B7BDCB"/>
                </a:solidFill>
                <a:latin typeface="Arial"/>
              </a:rPr>
              <a:t>Seven features, shown on one example pipeline from start to finish.</a:t>
            </a:r>
          </a:p>
        </p:txBody>
      </p:sp>
      <p:sp>
        <p:nvSpPr>
          <p:cNvPr id="5" name="TextBox 4"/>
          <p:cNvSpPr txBox="1"/>
          <p:nvPr/>
        </p:nvSpPr>
        <p:spPr>
          <a:xfrm>
            <a:off x="812800" y="5715000"/>
            <a:ext cx="9525000" cy="254000"/>
          </a:xfrm>
          <a:prstGeom prst="rect">
            <a:avLst/>
          </a:prstGeom>
          <a:noFill/>
        </p:spPr>
        <p:txBody>
          <a:bodyPr wrap="square" lIns="0" rIns="0" tIns="0" bIns="0" anchor="t">
            <a:spAutoFit/>
          </a:bodyPr>
          <a:lstStyle/>
          <a:p>
            <a:pPr algn="l">
              <a:lnSpc>
                <a:spcPct val="115000"/>
              </a:lnSpc>
            </a:pPr>
            <a:r>
              <a:rPr sz="1200" b="0">
                <a:solidFill>
                  <a:srgbClr val="8C93A3"/>
                </a:solidFill>
                <a:latin typeface="Arial"/>
              </a:rPr>
              <a:t>Example used throughout: a customer-feedback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12800" y="812800"/>
            <a:ext cx="10566400" cy="571500"/>
          </a:xfrm>
          <a:prstGeom prst="rect">
            <a:avLst/>
          </a:prstGeom>
          <a:noFill/>
        </p:spPr>
        <p:txBody>
          <a:bodyPr wrap="square" lIns="0" rIns="0" tIns="0" bIns="0" anchor="t">
            <a:spAutoFit/>
          </a:bodyPr>
          <a:lstStyle/>
          <a:p>
            <a:pPr algn="l">
              <a:lnSpc>
                <a:spcPct val="115000"/>
              </a:lnSpc>
            </a:pPr>
            <a:r>
              <a:rPr sz="3600" b="1">
                <a:solidFill>
                  <a:srgbClr val="1F2430"/>
                </a:solidFill>
                <a:latin typeface="Arial"/>
              </a:rPr>
              <a:t>What the platform does</a:t>
            </a:r>
          </a:p>
        </p:txBody>
      </p:sp>
      <p:sp>
        <p:nvSpPr>
          <p:cNvPr id="3" name="Rounded Rectangle 2"/>
          <p:cNvSpPr/>
          <p:nvPr/>
        </p:nvSpPr>
        <p:spPr>
          <a:xfrm>
            <a:off x="812800" y="18415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0447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1</a:t>
            </a:r>
          </a:p>
        </p:txBody>
      </p:sp>
      <p:sp>
        <p:nvSpPr>
          <p:cNvPr id="5" name="TextBox 4"/>
          <p:cNvSpPr txBox="1"/>
          <p:nvPr/>
        </p:nvSpPr>
        <p:spPr>
          <a:xfrm>
            <a:off x="1041400" y="23495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Canvas</a:t>
            </a:r>
          </a:p>
        </p:txBody>
      </p:sp>
      <p:sp>
        <p:nvSpPr>
          <p:cNvPr id="6" name="TextBox 5"/>
          <p:cNvSpPr txBox="1"/>
          <p:nvPr/>
        </p:nvSpPr>
        <p:spPr>
          <a:xfrm>
            <a:off x="1041400" y="27305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Build a pipeline by dragging nodes and drawing links.</a:t>
            </a:r>
          </a:p>
        </p:txBody>
      </p:sp>
      <p:sp>
        <p:nvSpPr>
          <p:cNvPr id="7" name="Rounded Rectangle 6"/>
          <p:cNvSpPr/>
          <p:nvPr/>
        </p:nvSpPr>
        <p:spPr>
          <a:xfrm>
            <a:off x="3505200" y="18415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33800" y="20447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2</a:t>
            </a:r>
          </a:p>
        </p:txBody>
      </p:sp>
      <p:sp>
        <p:nvSpPr>
          <p:cNvPr id="9" name="TextBox 8"/>
          <p:cNvSpPr txBox="1"/>
          <p:nvPr/>
        </p:nvSpPr>
        <p:spPr>
          <a:xfrm>
            <a:off x="3733800" y="23495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Data</a:t>
            </a:r>
          </a:p>
        </p:txBody>
      </p:sp>
      <p:sp>
        <p:nvSpPr>
          <p:cNvPr id="10" name="TextBox 9"/>
          <p:cNvSpPr txBox="1"/>
          <p:nvPr/>
        </p:nvSpPr>
        <p:spPr>
          <a:xfrm>
            <a:off x="3733800" y="27305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Datasets are defined in Python and read in batches.</a:t>
            </a:r>
          </a:p>
        </p:txBody>
      </p:sp>
      <p:sp>
        <p:nvSpPr>
          <p:cNvPr id="11" name="Rounded Rectangle 10"/>
          <p:cNvSpPr/>
          <p:nvPr/>
        </p:nvSpPr>
        <p:spPr>
          <a:xfrm>
            <a:off x="6197600" y="18415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6200" y="20447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3</a:t>
            </a:r>
          </a:p>
        </p:txBody>
      </p:sp>
      <p:sp>
        <p:nvSpPr>
          <p:cNvPr id="13" name="TextBox 12"/>
          <p:cNvSpPr txBox="1"/>
          <p:nvPr/>
        </p:nvSpPr>
        <p:spPr>
          <a:xfrm>
            <a:off x="6426200" y="23495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Batch runs</a:t>
            </a:r>
          </a:p>
        </p:txBody>
      </p:sp>
      <p:sp>
        <p:nvSpPr>
          <p:cNvPr id="14" name="TextBox 13"/>
          <p:cNvSpPr txBox="1"/>
          <p:nvPr/>
        </p:nvSpPr>
        <p:spPr>
          <a:xfrm>
            <a:off x="6426200" y="27305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Node by node, batch by batch, with live progress and cost.</a:t>
            </a:r>
          </a:p>
        </p:txBody>
      </p:sp>
      <p:sp>
        <p:nvSpPr>
          <p:cNvPr id="15" name="Rounded Rectangle 14"/>
          <p:cNvSpPr/>
          <p:nvPr/>
        </p:nvSpPr>
        <p:spPr>
          <a:xfrm>
            <a:off x="8890000" y="18415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8600" y="20447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4</a:t>
            </a:r>
          </a:p>
        </p:txBody>
      </p:sp>
      <p:sp>
        <p:nvSpPr>
          <p:cNvPr id="17" name="TextBox 16"/>
          <p:cNvSpPr txBox="1"/>
          <p:nvPr/>
        </p:nvSpPr>
        <p:spPr>
          <a:xfrm>
            <a:off x="9118600" y="23495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Memory</a:t>
            </a:r>
          </a:p>
        </p:txBody>
      </p:sp>
      <p:sp>
        <p:nvSpPr>
          <p:cNvPr id="18" name="TextBox 17"/>
          <p:cNvSpPr txBox="1"/>
          <p:nvPr/>
        </p:nvSpPr>
        <p:spPr>
          <a:xfrm>
            <a:off x="9118600" y="27305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Kept per entity and per date; a step never reads the future.</a:t>
            </a:r>
          </a:p>
        </p:txBody>
      </p:sp>
      <p:sp>
        <p:nvSpPr>
          <p:cNvPr id="19" name="Rounded Rectangle 18"/>
          <p:cNvSpPr/>
          <p:nvPr/>
        </p:nvSpPr>
        <p:spPr>
          <a:xfrm>
            <a:off x="812800" y="39497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1400" y="41529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5</a:t>
            </a:r>
          </a:p>
        </p:txBody>
      </p:sp>
      <p:sp>
        <p:nvSpPr>
          <p:cNvPr id="21" name="TextBox 20"/>
          <p:cNvSpPr txBox="1"/>
          <p:nvPr/>
        </p:nvSpPr>
        <p:spPr>
          <a:xfrm>
            <a:off x="1041400" y="44577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Chat assistant</a:t>
            </a:r>
          </a:p>
        </p:txBody>
      </p:sp>
      <p:sp>
        <p:nvSpPr>
          <p:cNvPr id="22" name="TextBox 21"/>
          <p:cNvSpPr txBox="1"/>
          <p:nvPr/>
        </p:nvSpPr>
        <p:spPr>
          <a:xfrm>
            <a:off x="1041400" y="48387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Create a pipeline, or change one, by asking in plain words.</a:t>
            </a:r>
          </a:p>
        </p:txBody>
      </p:sp>
      <p:sp>
        <p:nvSpPr>
          <p:cNvPr id="23" name="Rounded Rectangle 22"/>
          <p:cNvSpPr/>
          <p:nvPr/>
        </p:nvSpPr>
        <p:spPr>
          <a:xfrm>
            <a:off x="3505200" y="39497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33800" y="41529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6</a:t>
            </a:r>
          </a:p>
        </p:txBody>
      </p:sp>
      <p:sp>
        <p:nvSpPr>
          <p:cNvPr id="25" name="TextBox 24"/>
          <p:cNvSpPr txBox="1"/>
          <p:nvPr/>
        </p:nvSpPr>
        <p:spPr>
          <a:xfrm>
            <a:off x="3733800" y="44577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Evaluation</a:t>
            </a:r>
          </a:p>
        </p:txBody>
      </p:sp>
      <p:sp>
        <p:nvSpPr>
          <p:cNvPr id="26" name="TextBox 25"/>
          <p:cNvSpPr txBox="1"/>
          <p:nvPr/>
        </p:nvSpPr>
        <p:spPr>
          <a:xfrm>
            <a:off x="3733800" y="48387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Your own code scores every result.</a:t>
            </a:r>
          </a:p>
        </p:txBody>
      </p:sp>
      <p:sp>
        <p:nvSpPr>
          <p:cNvPr id="27" name="Rounded Rectangle 26"/>
          <p:cNvSpPr/>
          <p:nvPr/>
        </p:nvSpPr>
        <p:spPr>
          <a:xfrm>
            <a:off x="6197600" y="3949700"/>
            <a:ext cx="2489200" cy="1905000"/>
          </a:xfrm>
          <a:prstGeom prst="roundRect">
            <a:avLst>
              <a:gd name="adj" fmla="val 6666"/>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6200" y="4152900"/>
            <a:ext cx="2032000" cy="228600"/>
          </a:xfrm>
          <a:prstGeom prst="rect">
            <a:avLst/>
          </a:prstGeom>
          <a:noFill/>
        </p:spPr>
        <p:txBody>
          <a:bodyPr wrap="square" lIns="0" rIns="0" tIns="0" bIns="0" anchor="t">
            <a:spAutoFit/>
          </a:bodyPr>
          <a:lstStyle/>
          <a:p>
            <a:pPr algn="l">
              <a:lnSpc>
                <a:spcPct val="115000"/>
              </a:lnSpc>
            </a:pPr>
            <a:r>
              <a:rPr sz="1200" b="0">
                <a:solidFill>
                  <a:srgbClr val="2F5BD3"/>
                </a:solidFill>
                <a:latin typeface="Consolas"/>
              </a:rPr>
              <a:t>7</a:t>
            </a:r>
          </a:p>
        </p:txBody>
      </p:sp>
      <p:sp>
        <p:nvSpPr>
          <p:cNvPr id="29" name="TextBox 28"/>
          <p:cNvSpPr txBox="1"/>
          <p:nvPr/>
        </p:nvSpPr>
        <p:spPr>
          <a:xfrm>
            <a:off x="6426200" y="4457700"/>
            <a:ext cx="2032000" cy="317500"/>
          </a:xfrm>
          <a:prstGeom prst="rect">
            <a:avLst/>
          </a:prstGeom>
          <a:noFill/>
        </p:spPr>
        <p:txBody>
          <a:bodyPr wrap="square" lIns="0" rIns="0" tIns="0" bIns="0" anchor="t">
            <a:spAutoFit/>
          </a:bodyPr>
          <a:lstStyle/>
          <a:p>
            <a:pPr algn="l">
              <a:lnSpc>
                <a:spcPct val="115000"/>
              </a:lnSpc>
            </a:pPr>
            <a:r>
              <a:rPr sz="1700" b="1">
                <a:solidFill>
                  <a:srgbClr val="1F2430"/>
                </a:solidFill>
                <a:latin typeface="Arial"/>
              </a:rPr>
              <a:t>Evolve</a:t>
            </a:r>
          </a:p>
        </p:txBody>
      </p:sp>
      <p:sp>
        <p:nvSpPr>
          <p:cNvPr id="30" name="TextBox 29"/>
          <p:cNvSpPr txBox="1"/>
          <p:nvPr/>
        </p:nvSpPr>
        <p:spPr>
          <a:xfrm>
            <a:off x="6426200" y="4838700"/>
            <a:ext cx="2032000" cy="889000"/>
          </a:xfrm>
          <a:prstGeom prst="rect">
            <a:avLst/>
          </a:prstGeom>
          <a:noFill/>
        </p:spPr>
        <p:txBody>
          <a:bodyPr wrap="square" lIns="0" rIns="0" tIns="0" bIns="0" anchor="t">
            <a:spAutoFit/>
          </a:bodyPr>
          <a:lstStyle/>
          <a:p>
            <a:pPr algn="l">
              <a:lnSpc>
                <a:spcPct val="120000"/>
              </a:lnSpc>
            </a:pPr>
            <a:r>
              <a:rPr sz="1300" b="0">
                <a:solidFill>
                  <a:srgbClr val="5B6272"/>
                </a:solidFill>
                <a:latin typeface="Arial"/>
              </a:rPr>
              <a:t>Prompts improve automatically and are checked on held-out data.</a:t>
            </a:r>
          </a:p>
        </p:txBody>
      </p:sp>
      <p:sp>
        <p:nvSpPr>
          <p:cNvPr id="31" name="Rounded Rectangle 30"/>
          <p:cNvSpPr/>
          <p:nvPr/>
        </p:nvSpPr>
        <p:spPr>
          <a:xfrm>
            <a:off x="8890000" y="3949700"/>
            <a:ext cx="2489200" cy="1905000"/>
          </a:xfrm>
          <a:prstGeom prst="roundRect">
            <a:avLst>
              <a:gd name="adj" fmla="val 6666"/>
            </a:avLst>
          </a:prstGeom>
          <a:solidFill>
            <a:srgbClr val="2F5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18600" y="4178300"/>
            <a:ext cx="2032000" cy="1447800"/>
          </a:xfrm>
          <a:prstGeom prst="rect">
            <a:avLst/>
          </a:prstGeom>
          <a:noFill/>
        </p:spPr>
        <p:txBody>
          <a:bodyPr wrap="square" lIns="0" rIns="0" tIns="0" bIns="0" anchor="ctr">
            <a:spAutoFit/>
          </a:bodyPr>
          <a:lstStyle/>
          <a:p>
            <a:pPr algn="l">
              <a:lnSpc>
                <a:spcPct val="120000"/>
              </a:lnSpc>
            </a:pPr>
            <a:r>
              <a:rPr sz="1500" b="0">
                <a:solidFill>
                  <a:srgbClr val="F7F8FA"/>
                </a:solidFill>
                <a:latin typeface="Arial"/>
              </a:rPr>
              <a:t>Each one is shown next, on the same customer-feedback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812800" y="698500"/>
            <a:ext cx="10566400" cy="571500"/>
          </a:xfrm>
          <a:prstGeom prst="rect">
            <a:avLst/>
          </a:prstGeom>
          <a:noFill/>
        </p:spPr>
        <p:txBody>
          <a:bodyPr wrap="square" lIns="0" rIns="0" tIns="0" bIns="0" anchor="t">
            <a:spAutoFit/>
          </a:bodyPr>
          <a:lstStyle/>
          <a:p>
            <a:pPr algn="l">
              <a:lnSpc>
                <a:spcPct val="115000"/>
              </a:lnSpc>
            </a:pPr>
            <a:r>
              <a:rPr sz="3200" b="1">
                <a:solidFill>
                  <a:srgbClr val="1F2430"/>
                </a:solidFill>
                <a:latin typeface="Arial"/>
              </a:rPr>
              <a:t>The example: a customer-feedback pipeline</a:t>
            </a:r>
          </a:p>
        </p:txBody>
      </p:sp>
      <p:sp>
        <p:nvSpPr>
          <p:cNvPr id="3" name="TextBox 2"/>
          <p:cNvSpPr txBox="1"/>
          <p:nvPr/>
        </p:nvSpPr>
        <p:spPr>
          <a:xfrm>
            <a:off x="812800" y="1301750"/>
            <a:ext cx="10160000" cy="571500"/>
          </a:xfrm>
          <a:prstGeom prst="rect">
            <a:avLst/>
          </a:prstGeom>
          <a:noFill/>
        </p:spPr>
        <p:txBody>
          <a:bodyPr wrap="square" lIns="0" rIns="0" tIns="0" bIns="0" anchor="t">
            <a:spAutoFit/>
          </a:bodyPr>
          <a:lstStyle/>
          <a:p>
            <a:pPr algn="l">
              <a:lnSpc>
                <a:spcPct val="125000"/>
              </a:lnSpc>
            </a:pPr>
            <a:r>
              <a:rPr sz="1500" b="0">
                <a:solidFill>
                  <a:srgbClr val="5B6272"/>
                </a:solidFill>
                <a:latin typeface="Arial"/>
              </a:rPr>
              <a:t>Feedback is cleaned and extracted, then classified with each customer’s history, scored for sentiment and enriched by a tool, before a summary and a report.</a:t>
            </a:r>
          </a:p>
        </p:txBody>
      </p:sp>
      <p:pic>
        <p:nvPicPr>
          <p:cNvPr id="4" name="Picture 3" descr="pipeline.png"/>
          <p:cNvPicPr>
            <a:picLocks noChangeAspect="1"/>
          </p:cNvPicPr>
          <p:nvPr/>
        </p:nvPicPr>
        <p:blipFill>
          <a:blip r:embed="rId2"/>
          <a:stretch>
            <a:fillRect/>
          </a:stretch>
        </p:blipFill>
        <p:spPr>
          <a:xfrm>
            <a:off x="812800" y="2159000"/>
            <a:ext cx="10566400" cy="34861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1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Canvas</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Drag nodes and draw links. What you see is the pipeline that runs.</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Prompt, model and tools per node</a:t>
            </a:r>
          </a:p>
          <a:p>
            <a:pPr algn="l">
              <a:lnSpc>
                <a:spcPct val="130000"/>
              </a:lnSpc>
              <a:spcAft>
                <a:spcPts val="600"/>
              </a:spcAft>
            </a:pPr>
            <a:r>
              <a:rPr sz="1300" b="0">
                <a:solidFill>
                  <a:srgbClr val="5B6272"/>
                </a:solidFill>
                <a:latin typeface="Arial"/>
              </a:rPr>
              <a:t>•  Branches run side by side</a:t>
            </a:r>
          </a:p>
          <a:p>
            <a:pPr algn="l">
              <a:lnSpc>
                <a:spcPct val="130000"/>
              </a:lnSpc>
              <a:spcAft>
                <a:spcPts val="600"/>
              </a:spcAft>
            </a:pPr>
            <a:r>
              <a:rPr sz="1300" b="0">
                <a:solidFill>
                  <a:srgbClr val="5B6272"/>
                </a:solidFill>
                <a:latin typeface="Arial"/>
              </a:rPr>
              <a:t>•  Save, undo and rename like a document</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2-canva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6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2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Data</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Your dataset is a Python function. Its records stream in batches.</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build_dataset returns a PyTorch Dataset</a:t>
            </a:r>
          </a:p>
          <a:p>
            <a:pPr algn="l">
              <a:lnSpc>
                <a:spcPct val="130000"/>
              </a:lnSpc>
              <a:spcAft>
                <a:spcPts val="600"/>
              </a:spcAft>
            </a:pPr>
            <a:r>
              <a:rPr sz="1300" b="0">
                <a:solidFill>
                  <a:srgbClr val="5B6272"/>
                </a:solidFill>
                <a:latin typeface="Arial"/>
              </a:rPr>
              <a:t>•  Batch size and split are set per run</a:t>
            </a:r>
          </a:p>
          <a:p>
            <a:pPr algn="l">
              <a:lnSpc>
                <a:spcPct val="130000"/>
              </a:lnSpc>
              <a:spcAft>
                <a:spcPts val="600"/>
              </a:spcAft>
            </a:pPr>
            <a:r>
              <a:rPr sz="1300" b="0">
                <a:solidFill>
                  <a:srgbClr val="5B6272"/>
                </a:solidFill>
                <a:latin typeface="Arial"/>
              </a:rPr>
              <a:t>•  Each batch enters at the first node</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3-dat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3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Batch runs</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Every step runs batch by batch, and you watch it happen.</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Branches run in parallel</a:t>
            </a:r>
          </a:p>
          <a:p>
            <a:pPr algn="l">
              <a:lnSpc>
                <a:spcPct val="130000"/>
              </a:lnSpc>
              <a:spcAft>
                <a:spcPts val="600"/>
              </a:spcAft>
            </a:pPr>
            <a:r>
              <a:rPr sz="1300" b="0">
                <a:solidFill>
                  <a:srgbClr val="5B6272"/>
                </a:solidFill>
                <a:latin typeface="Arial"/>
              </a:rPr>
              <a:t>•  Progress, tokens and cost update live</a:t>
            </a:r>
          </a:p>
          <a:p>
            <a:pPr algn="l">
              <a:lnSpc>
                <a:spcPct val="130000"/>
              </a:lnSpc>
              <a:spcAft>
                <a:spcPts val="600"/>
              </a:spcAft>
            </a:pPr>
            <a:r>
              <a:rPr sz="1300" b="0">
                <a:solidFill>
                  <a:srgbClr val="5B6272"/>
                </a:solidFill>
                <a:latin typeface="Arial"/>
              </a:rPr>
              <a:t>•  Stop at any time, resume later</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4-batch-run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4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Memory</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Classify reads each customer’s earlier feedback, never anything later.</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Kept per entity: here, per customer</a:t>
            </a:r>
          </a:p>
          <a:p>
            <a:pPr algn="l">
              <a:lnSpc>
                <a:spcPct val="130000"/>
              </a:lnSpc>
              <a:spcAft>
                <a:spcPts val="600"/>
              </a:spcAft>
            </a:pPr>
            <a:r>
              <a:rPr sz="1300" b="0">
                <a:solidFill>
                  <a:srgbClr val="5B6272"/>
                </a:solidFill>
                <a:latin typeface="Arial"/>
              </a:rPr>
              <a:t>•  Every record is filed under its date</a:t>
            </a:r>
          </a:p>
          <a:p>
            <a:pPr algn="l">
              <a:lnSpc>
                <a:spcPct val="130000"/>
              </a:lnSpc>
              <a:spcAft>
                <a:spcPts val="600"/>
              </a:spcAft>
            </a:pPr>
            <a:r>
              <a:rPr sz="1300" b="0">
                <a:solidFill>
                  <a:srgbClr val="5B6272"/>
                </a:solidFill>
                <a:latin typeface="Arial"/>
              </a:rPr>
              <a:t>•  A run sees only what came before</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5-memor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5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Chat assistant</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Describe a pipeline and it is built. Ask for a change and it is edited.</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Builds a whole pipeline from one sentence</a:t>
            </a:r>
          </a:p>
          <a:p>
            <a:pPr algn="l">
              <a:lnSpc>
                <a:spcPct val="130000"/>
              </a:lnSpc>
              <a:spcAft>
                <a:spcPts val="600"/>
              </a:spcAft>
            </a:pPr>
            <a:r>
              <a:rPr sz="1300" b="0">
                <a:solidFill>
                  <a:srgbClr val="5B6272"/>
                </a:solidFill>
                <a:latin typeface="Arial"/>
              </a:rPr>
              <a:t>•  Adds, changes or removes steps</a:t>
            </a:r>
          </a:p>
          <a:p>
            <a:pPr algn="l">
              <a:lnSpc>
                <a:spcPct val="130000"/>
              </a:lnSpc>
              <a:spcAft>
                <a:spcPts val="600"/>
              </a:spcAft>
            </a:pPr>
            <a:r>
              <a:rPr sz="1300" b="0">
                <a:solidFill>
                  <a:srgbClr val="5B6272"/>
                </a:solidFill>
                <a:latin typeface="Arial"/>
              </a:rPr>
              <a:t>•  Every change can be undone</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6-chat-assistan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8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6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Evaluation</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Your own code decides what “correct” means.</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Paste a Python evaluate function</a:t>
            </a:r>
          </a:p>
          <a:p>
            <a:pPr algn="l">
              <a:lnSpc>
                <a:spcPct val="130000"/>
              </a:lnSpc>
              <a:spcAft>
                <a:spcPts val="600"/>
              </a:spcAft>
            </a:pPr>
            <a:r>
              <a:rPr sz="1300" b="0">
                <a:solidFill>
                  <a:srgbClr val="5B6272"/>
                </a:solidFill>
                <a:latin typeface="Arial"/>
              </a:rPr>
              <a:t>•  Run it on any batch of reports</a:t>
            </a:r>
          </a:p>
          <a:p>
            <a:pPr algn="l">
              <a:lnSpc>
                <a:spcPct val="130000"/>
              </a:lnSpc>
              <a:spcAft>
                <a:spcPts val="600"/>
              </a:spcAft>
            </a:pPr>
            <a:r>
              <a:rPr sz="1300" b="0">
                <a:solidFill>
                  <a:srgbClr val="5B6272"/>
                </a:solidFill>
                <a:latin typeface="Arial"/>
              </a:rPr>
              <a:t>•  The score is what Evolve raises</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7-evaluatio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1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09600" y="1587500"/>
            <a:ext cx="3175000" cy="254000"/>
          </a:xfrm>
          <a:prstGeom prst="rect">
            <a:avLst/>
          </a:prstGeom>
          <a:noFill/>
        </p:spPr>
        <p:txBody>
          <a:bodyPr wrap="square" lIns="0" rIns="0" tIns="0" bIns="0" anchor="t">
            <a:spAutoFit/>
          </a:bodyPr>
          <a:lstStyle/>
          <a:p>
            <a:pPr algn="l">
              <a:lnSpc>
                <a:spcPct val="115000"/>
              </a:lnSpc>
            </a:pPr>
            <a:r>
              <a:rPr sz="1200" b="1">
                <a:solidFill>
                  <a:srgbClr val="2F5BD3"/>
                </a:solidFill>
                <a:latin typeface="Arial"/>
              </a:rPr>
              <a:t>FEATURE 7 OF 7</a:t>
            </a:r>
          </a:p>
        </p:txBody>
      </p:sp>
      <p:sp>
        <p:nvSpPr>
          <p:cNvPr id="3" name="TextBox 2"/>
          <p:cNvSpPr txBox="1"/>
          <p:nvPr/>
        </p:nvSpPr>
        <p:spPr>
          <a:xfrm>
            <a:off x="609600" y="1905000"/>
            <a:ext cx="3175000" cy="508000"/>
          </a:xfrm>
          <a:prstGeom prst="rect">
            <a:avLst/>
          </a:prstGeom>
          <a:noFill/>
        </p:spPr>
        <p:txBody>
          <a:bodyPr wrap="square" lIns="0" rIns="0" tIns="0" bIns="0" anchor="t">
            <a:spAutoFit/>
          </a:bodyPr>
          <a:lstStyle/>
          <a:p>
            <a:pPr algn="l">
              <a:lnSpc>
                <a:spcPct val="115000"/>
              </a:lnSpc>
            </a:pPr>
            <a:r>
              <a:rPr sz="3000" b="1">
                <a:solidFill>
                  <a:srgbClr val="1F2430"/>
                </a:solidFill>
                <a:latin typeface="Arial"/>
              </a:rPr>
              <a:t>Evolve</a:t>
            </a:r>
          </a:p>
        </p:txBody>
      </p:sp>
      <p:sp>
        <p:nvSpPr>
          <p:cNvPr id="4" name="TextBox 3"/>
          <p:cNvSpPr txBox="1"/>
          <p:nvPr/>
        </p:nvSpPr>
        <p:spPr>
          <a:xfrm>
            <a:off x="609600" y="2540000"/>
            <a:ext cx="3175000" cy="1143000"/>
          </a:xfrm>
          <a:prstGeom prst="rect">
            <a:avLst/>
          </a:prstGeom>
          <a:noFill/>
        </p:spPr>
        <p:txBody>
          <a:bodyPr wrap="square" lIns="0" rIns="0" tIns="0" bIns="0" anchor="t">
            <a:spAutoFit/>
          </a:bodyPr>
          <a:lstStyle/>
          <a:p>
            <a:pPr algn="l">
              <a:lnSpc>
                <a:spcPct val="125000"/>
              </a:lnSpc>
            </a:pPr>
            <a:r>
              <a:rPr sz="1600" b="0">
                <a:solidFill>
                  <a:srgbClr val="1F2430"/>
                </a:solidFill>
                <a:latin typeface="Arial"/>
              </a:rPr>
              <a:t>Each round closes the loop, and the score rises on data it never saw.</a:t>
            </a:r>
          </a:p>
        </p:txBody>
      </p:sp>
      <p:sp>
        <p:nvSpPr>
          <p:cNvPr id="5" name="TextBox 4"/>
          <p:cNvSpPr txBox="1"/>
          <p:nvPr/>
        </p:nvSpPr>
        <p:spPr>
          <a:xfrm>
            <a:off x="609600" y="3746500"/>
            <a:ext cx="3175000" cy="1651000"/>
          </a:xfrm>
          <a:prstGeom prst="rect">
            <a:avLst/>
          </a:prstGeom>
          <a:noFill/>
        </p:spPr>
        <p:txBody>
          <a:bodyPr wrap="square" lIns="0" rIns="0" tIns="0" bIns="0" anchor="t">
            <a:spAutoFit/>
          </a:bodyPr>
          <a:lstStyle/>
          <a:p>
            <a:pPr algn="l">
              <a:lnSpc>
                <a:spcPct val="130000"/>
              </a:lnSpc>
              <a:spcAft>
                <a:spcPts val="600"/>
              </a:spcAft>
            </a:pPr>
            <a:r>
              <a:rPr sz="1300" b="0">
                <a:solidFill>
                  <a:srgbClr val="5B6272"/>
                </a:solidFill>
                <a:latin typeface="Arial"/>
              </a:rPr>
              <a:t>•  Rewrites the Classify prompt each round</a:t>
            </a:r>
          </a:p>
          <a:p>
            <a:pPr algn="l">
              <a:lnSpc>
                <a:spcPct val="130000"/>
              </a:lnSpc>
              <a:spcAft>
                <a:spcPts val="600"/>
              </a:spcAft>
            </a:pPr>
            <a:r>
              <a:rPr sz="1300" b="0">
                <a:solidFill>
                  <a:srgbClr val="5B6272"/>
                </a:solidFill>
                <a:latin typeface="Arial"/>
              </a:rPr>
              <a:t>•  Optimises on the dev split</a:t>
            </a:r>
          </a:p>
          <a:p>
            <a:pPr algn="l">
              <a:lnSpc>
                <a:spcPct val="130000"/>
              </a:lnSpc>
              <a:spcAft>
                <a:spcPts val="600"/>
              </a:spcAft>
            </a:pPr>
            <a:r>
              <a:rPr sz="1300" b="0">
                <a:solidFill>
                  <a:srgbClr val="5B6272"/>
                </a:solidFill>
                <a:latin typeface="Arial"/>
              </a:rPr>
              <a:t>•  Confirms on a held-out split</a:t>
            </a:r>
          </a:p>
        </p:txBody>
      </p:sp>
      <p:sp>
        <p:nvSpPr>
          <p:cNvPr id="6" name="Rounded Rectangle 5"/>
          <p:cNvSpPr/>
          <p:nvPr/>
        </p:nvSpPr>
        <p:spPr>
          <a:xfrm>
            <a:off x="4127500" y="1498600"/>
            <a:ext cx="7467600" cy="4203700"/>
          </a:xfrm>
          <a:prstGeom prst="roundRect">
            <a:avLst>
              <a:gd name="adj" fmla="val 3021"/>
            </a:avLst>
          </a:prstGeom>
          <a:solidFill>
            <a:srgbClr val="FFFFFF"/>
          </a:solidFill>
          <a:ln w="14287">
            <a:solidFill>
              <a:srgbClr val="D9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08-evolv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191000" y="1555750"/>
            <a:ext cx="7340600" cy="412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5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200" b="1">
                <a:solidFill>
                  <a:srgbClr val="9DB4FF"/>
                </a:solidFill>
                <a:latin typeface="Arial"/>
              </a:rPr>
              <a:t>IN SHORT</a:t>
            </a:r>
          </a:p>
        </p:txBody>
      </p:sp>
      <p:sp>
        <p:nvSpPr>
          <p:cNvPr id="3" name="TextBox 2"/>
          <p:cNvSpPr txBox="1"/>
          <p:nvPr/>
        </p:nvSpPr>
        <p:spPr>
          <a:xfrm>
            <a:off x="812800" y="1143000"/>
            <a:ext cx="10566400" cy="571500"/>
          </a:xfrm>
          <a:prstGeom prst="rect">
            <a:avLst/>
          </a:prstGeom>
          <a:noFill/>
        </p:spPr>
        <p:txBody>
          <a:bodyPr wrap="square" lIns="0" rIns="0" tIns="0" bIns="0" anchor="t">
            <a:spAutoFit/>
          </a:bodyPr>
          <a:lstStyle/>
          <a:p>
            <a:pPr algn="l">
              <a:lnSpc>
                <a:spcPct val="115000"/>
              </a:lnSpc>
            </a:pPr>
            <a:r>
              <a:rPr sz="3600" b="1">
                <a:solidFill>
                  <a:srgbClr val="F2F3F7"/>
                </a:solidFill>
                <a:latin typeface="Arial"/>
              </a:rPr>
              <a:t>Every round closes the loop</a:t>
            </a:r>
          </a:p>
        </p:txBody>
      </p:sp>
      <p:sp>
        <p:nvSpPr>
          <p:cNvPr id="4" name="Rounded Rectangle 3"/>
          <p:cNvSpPr/>
          <p:nvPr/>
        </p:nvSpPr>
        <p:spPr>
          <a:xfrm>
            <a:off x="812800" y="2603500"/>
            <a:ext cx="1905000" cy="762000"/>
          </a:xfrm>
          <a:prstGeom prst="roundRect">
            <a:avLst>
              <a:gd name="adj" fmla="val 15000"/>
            </a:avLst>
          </a:prstGeom>
          <a:solidFill>
            <a:srgbClr val="2A3040"/>
          </a:solidFill>
          <a:ln w="14287">
            <a:solidFill>
              <a:srgbClr val="444C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603500"/>
            <a:ext cx="1905000" cy="762000"/>
          </a:xfrm>
          <a:prstGeom prst="rect">
            <a:avLst/>
          </a:prstGeom>
          <a:noFill/>
        </p:spPr>
        <p:txBody>
          <a:bodyPr wrap="square" lIns="0" rIns="0" tIns="0" bIns="0" anchor="ctr">
            <a:spAutoFit/>
          </a:bodyPr>
          <a:lstStyle/>
          <a:p>
            <a:pPr algn="ctr">
              <a:lnSpc>
                <a:spcPct val="115000"/>
              </a:lnSpc>
            </a:pPr>
            <a:r>
              <a:rPr sz="1700" b="0">
                <a:solidFill>
                  <a:srgbClr val="F2F3F7"/>
                </a:solidFill>
                <a:latin typeface="Arial"/>
              </a:rPr>
              <a:t>Feedback</a:t>
            </a:r>
          </a:p>
        </p:txBody>
      </p:sp>
      <p:sp>
        <p:nvSpPr>
          <p:cNvPr id="6" name="Rounded Rectangle 5"/>
          <p:cNvSpPr/>
          <p:nvPr/>
        </p:nvSpPr>
        <p:spPr>
          <a:xfrm>
            <a:off x="3606800" y="2603500"/>
            <a:ext cx="1905000" cy="762000"/>
          </a:xfrm>
          <a:prstGeom prst="roundRect">
            <a:avLst>
              <a:gd name="adj" fmla="val 15000"/>
            </a:avLst>
          </a:prstGeom>
          <a:solidFill>
            <a:srgbClr val="2A3040"/>
          </a:solidFill>
          <a:ln w="14287">
            <a:solidFill>
              <a:srgbClr val="444C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6800" y="2603500"/>
            <a:ext cx="1905000" cy="762000"/>
          </a:xfrm>
          <a:prstGeom prst="rect">
            <a:avLst/>
          </a:prstGeom>
          <a:noFill/>
        </p:spPr>
        <p:txBody>
          <a:bodyPr wrap="square" lIns="0" rIns="0" tIns="0" bIns="0" anchor="ctr">
            <a:spAutoFit/>
          </a:bodyPr>
          <a:lstStyle/>
          <a:p>
            <a:pPr algn="ctr">
              <a:lnSpc>
                <a:spcPct val="115000"/>
              </a:lnSpc>
            </a:pPr>
            <a:r>
              <a:rPr sz="1700" b="0">
                <a:solidFill>
                  <a:srgbClr val="F2F3F7"/>
                </a:solidFill>
                <a:latin typeface="Arial"/>
              </a:rPr>
              <a:t>Pipeline</a:t>
            </a:r>
          </a:p>
        </p:txBody>
      </p:sp>
      <p:cxnSp>
        <p:nvCxnSpPr>
          <p:cNvPr id="8" name="Connector 7"/>
          <p:cNvCxnSpPr/>
          <p:nvPr/>
        </p:nvCxnSpPr>
        <p:spPr>
          <a:xfrm>
            <a:off x="2717800" y="2984500"/>
            <a:ext cx="889000" cy="0"/>
          </a:xfrm>
          <a:prstGeom prst="line">
            <a:avLst/>
          </a:prstGeom>
          <a:ln w="19050">
            <a:solidFill>
              <a:srgbClr val="8C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0" y="2603500"/>
            <a:ext cx="1905000" cy="762000"/>
          </a:xfrm>
          <a:prstGeom prst="roundRect">
            <a:avLst>
              <a:gd name="adj" fmla="val 15000"/>
            </a:avLst>
          </a:prstGeom>
          <a:solidFill>
            <a:srgbClr val="2A3040"/>
          </a:solidFill>
          <a:ln w="14287">
            <a:solidFill>
              <a:srgbClr val="444C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603500"/>
            <a:ext cx="1905000" cy="762000"/>
          </a:xfrm>
          <a:prstGeom prst="rect">
            <a:avLst/>
          </a:prstGeom>
          <a:noFill/>
        </p:spPr>
        <p:txBody>
          <a:bodyPr wrap="square" lIns="0" rIns="0" tIns="0" bIns="0" anchor="ctr">
            <a:spAutoFit/>
          </a:bodyPr>
          <a:lstStyle/>
          <a:p>
            <a:pPr algn="ctr">
              <a:lnSpc>
                <a:spcPct val="115000"/>
              </a:lnSpc>
            </a:pPr>
            <a:r>
              <a:rPr sz="1700" b="0">
                <a:solidFill>
                  <a:srgbClr val="F2F3F7"/>
                </a:solidFill>
                <a:latin typeface="Arial"/>
              </a:rPr>
              <a:t>Score</a:t>
            </a:r>
          </a:p>
        </p:txBody>
      </p:sp>
      <p:cxnSp>
        <p:nvCxnSpPr>
          <p:cNvPr id="11" name="Connector 10"/>
          <p:cNvCxnSpPr/>
          <p:nvPr/>
        </p:nvCxnSpPr>
        <p:spPr>
          <a:xfrm>
            <a:off x="5511800" y="2984500"/>
            <a:ext cx="889000" cy="0"/>
          </a:xfrm>
          <a:prstGeom prst="line">
            <a:avLst/>
          </a:prstGeom>
          <a:ln w="19050">
            <a:solidFill>
              <a:srgbClr val="8C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94800" y="2603500"/>
            <a:ext cx="1905000" cy="762000"/>
          </a:xfrm>
          <a:prstGeom prst="roundRect">
            <a:avLst>
              <a:gd name="adj" fmla="val 15000"/>
            </a:avLst>
          </a:prstGeom>
          <a:solidFill>
            <a:srgbClr val="2A3040"/>
          </a:solidFill>
          <a:ln w="14287">
            <a:solidFill>
              <a:srgbClr val="9DB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94800" y="2603500"/>
            <a:ext cx="1905000" cy="762000"/>
          </a:xfrm>
          <a:prstGeom prst="rect">
            <a:avLst/>
          </a:prstGeom>
          <a:noFill/>
        </p:spPr>
        <p:txBody>
          <a:bodyPr wrap="square" lIns="0" rIns="0" tIns="0" bIns="0" anchor="ctr">
            <a:spAutoFit/>
          </a:bodyPr>
          <a:lstStyle/>
          <a:p>
            <a:pPr algn="ctr">
              <a:lnSpc>
                <a:spcPct val="115000"/>
              </a:lnSpc>
            </a:pPr>
            <a:r>
              <a:rPr sz="1700" b="0">
                <a:solidFill>
                  <a:srgbClr val="F2F3F7"/>
                </a:solidFill>
                <a:latin typeface="Arial"/>
              </a:rPr>
              <a:t>Better prompts</a:t>
            </a:r>
          </a:p>
        </p:txBody>
      </p:sp>
      <p:cxnSp>
        <p:nvCxnSpPr>
          <p:cNvPr id="14" name="Connector 13"/>
          <p:cNvCxnSpPr/>
          <p:nvPr/>
        </p:nvCxnSpPr>
        <p:spPr>
          <a:xfrm>
            <a:off x="8305800" y="2984500"/>
            <a:ext cx="889000" cy="0"/>
          </a:xfrm>
          <a:prstGeom prst="line">
            <a:avLst/>
          </a:prstGeom>
          <a:ln w="19050">
            <a:solidFill>
              <a:srgbClr val="8C93A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147300" y="3365500"/>
            <a:ext cx="0" cy="698500"/>
          </a:xfrm>
          <a:prstGeom prst="line">
            <a:avLst/>
          </a:prstGeom>
          <a:ln w="19050">
            <a:solidFill>
              <a:srgbClr val="9DB4FF"/>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559300" y="4064000"/>
            <a:ext cx="5588000" cy="0"/>
          </a:xfrm>
          <a:prstGeom prst="line">
            <a:avLst/>
          </a:prstGeom>
          <a:ln w="19050">
            <a:solidFill>
              <a:srgbClr val="9DB4FF"/>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559300" y="3365500"/>
            <a:ext cx="0" cy="698500"/>
          </a:xfrm>
          <a:prstGeom prst="line">
            <a:avLst/>
          </a:prstGeom>
          <a:ln w="19050">
            <a:solidFill>
              <a:srgbClr val="9DB4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5800" y="4191000"/>
            <a:ext cx="3175000" cy="254000"/>
          </a:xfrm>
          <a:prstGeom prst="rect">
            <a:avLst/>
          </a:prstGeom>
          <a:noFill/>
        </p:spPr>
        <p:txBody>
          <a:bodyPr wrap="square" lIns="0" rIns="0" tIns="0" bIns="0" anchor="t">
            <a:spAutoFit/>
          </a:bodyPr>
          <a:lstStyle/>
          <a:p>
            <a:pPr algn="ctr">
              <a:lnSpc>
                <a:spcPct val="115000"/>
              </a:lnSpc>
            </a:pPr>
            <a:r>
              <a:rPr sz="1300" b="0">
                <a:solidFill>
                  <a:srgbClr val="9DB4FF"/>
                </a:solidFill>
                <a:latin typeface="Arial"/>
              </a:rPr>
              <a:t>every round</a:t>
            </a:r>
          </a:p>
        </p:txBody>
      </p:sp>
      <p:sp>
        <p:nvSpPr>
          <p:cNvPr id="19" name="TextBox 18"/>
          <p:cNvSpPr txBox="1"/>
          <p:nvPr/>
        </p:nvSpPr>
        <p:spPr>
          <a:xfrm>
            <a:off x="812800" y="4953000"/>
            <a:ext cx="10566400" cy="698500"/>
          </a:xfrm>
          <a:prstGeom prst="rect">
            <a:avLst/>
          </a:prstGeom>
          <a:noFill/>
        </p:spPr>
        <p:txBody>
          <a:bodyPr wrap="square" lIns="0" rIns="0" tIns="0" bIns="0" anchor="t">
            <a:spAutoFit/>
          </a:bodyPr>
          <a:lstStyle/>
          <a:p>
            <a:pPr algn="l">
              <a:lnSpc>
                <a:spcPct val="130000"/>
              </a:lnSpc>
            </a:pPr>
            <a:r>
              <a:rPr sz="1800" b="0">
                <a:solidFill>
                  <a:srgbClr val="B7BDCB"/>
                </a:solidFill>
                <a:latin typeface="Arial"/>
              </a:rPr>
              <a:t>Datasets, tools and scoring stay your own Python. Studio runs, measures and improves the 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